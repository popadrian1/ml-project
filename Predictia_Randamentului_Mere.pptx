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Test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02-431D-9473-F1B700372A0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802-431D-9473-F1B700372A0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802-431D-9473-F1B700372A0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802-431D-9473-F1B700372A0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802-431D-9473-F1B700372A03}"/>
              </c:ext>
            </c:extLst>
          </c:dPt>
          <c:dPt>
            <c:idx val="5"/>
            <c:invertIfNegative val="0"/>
            <c:bubble3D val="0"/>
            <c:spPr>
              <a:solidFill>
                <a:srgbClr val="4C95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802-431D-9473-F1B700372A03}"/>
              </c:ext>
            </c:extLst>
          </c:dPt>
          <c:dPt>
            <c:idx val="6"/>
            <c:invertIfNegative val="0"/>
            <c:bubble3D val="0"/>
            <c:spPr>
              <a:solidFill>
                <a:srgbClr val="4C95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802-431D-9473-F1B700372A03}"/>
              </c:ext>
            </c:extLst>
          </c:dPt>
          <c:dPt>
            <c:idx val="7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802-431D-9473-F1B700372A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Lin. Reg.</c:v>
                </c:pt>
                <c:pt idx="1">
                  <c:v>Ridge</c:v>
                </c:pt>
                <c:pt idx="2">
                  <c:v>Lasso</c:v>
                </c:pt>
                <c:pt idx="3">
                  <c:v>Dec. Tree</c:v>
                </c:pt>
                <c:pt idx="4">
                  <c:v>AdaBoost</c:v>
                </c:pt>
                <c:pt idx="5">
                  <c:v>XGBoost</c:v>
                </c:pt>
                <c:pt idx="6">
                  <c:v>Rnd. Forest</c:v>
                </c:pt>
                <c:pt idx="7">
                  <c:v>Extra Trees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0.2235</c:v>
                </c:pt>
                <c:pt idx="1">
                  <c:v>0.2228</c:v>
                </c:pt>
                <c:pt idx="2">
                  <c:v>0.2235</c:v>
                </c:pt>
                <c:pt idx="3">
                  <c:v>0.1618</c:v>
                </c:pt>
                <c:pt idx="4">
                  <c:v>0.24099999999999999</c:v>
                </c:pt>
                <c:pt idx="5">
                  <c:v>0.69469999999999998</c:v>
                </c:pt>
                <c:pt idx="6">
                  <c:v>0.67520000000000002</c:v>
                </c:pt>
                <c:pt idx="7">
                  <c:v>0.79279999999999995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802-431D-9473-F1B700372A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54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72B7-41F4-AA8F-A4C7-3BAC6861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A318D-13CC-B017-16C6-4C9F263EA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840E1-3267-9787-3C6B-1E6BFDEF2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8D30A-2A76-1434-357E-9615971872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31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C6E49">
              <a:alpha val="30000"/>
            </a:srgbClr>
          </a:solidFill>
          <a:ln w="12700">
            <a:solidFill>
              <a:srgbClr val="2C6E4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4C956C">
              <a:alpha val="20000"/>
            </a:srgbClr>
          </a:solidFill>
          <a:ln w="12700">
            <a:solidFill>
              <a:srgbClr val="4C956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Predicția Randamentului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Producției de Mere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aplicat în agricultură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200400" cy="36576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Adrian Corneliu  •  Mai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828800" cy="777240"/>
          </a:xfrm>
          <a:prstGeom prst="rect">
            <a:avLst/>
          </a:prstGeom>
          <a:solidFill>
            <a:srgbClr val="2C6E49">
              <a:alpha val="60000"/>
            </a:srgbClr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133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testați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4114800"/>
            <a:ext cx="1828800" cy="777240"/>
          </a:xfrm>
          <a:prstGeom prst="rect">
            <a:avLst/>
          </a:prstGeom>
          <a:solidFill>
            <a:srgbClr val="2C6E49">
              <a:alpha val="60000"/>
            </a:srgbClr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0" y="4133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Înregistrări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4114800"/>
            <a:ext cx="1828800" cy="777240"/>
          </a:xfrm>
          <a:prstGeom prst="rect">
            <a:avLst/>
          </a:prstGeom>
          <a:solidFill>
            <a:srgbClr val="2C6E49">
              <a:alpha val="60000"/>
            </a:srgbClr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4133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ani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istorice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9440" y="4114800"/>
            <a:ext cx="1828800" cy="777240"/>
          </a:xfrm>
          <a:prstGeom prst="rect">
            <a:avLst/>
          </a:prstGeom>
          <a:solidFill>
            <a:srgbClr val="2C6E49">
              <a:alpha val="60000"/>
            </a:srgbClr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9440" y="4133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ro-RO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țări</a:t>
            </a:r>
            <a:r>
              <a:rPr lang="ro-RO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/zone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Acoperire globală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 Prezentării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Surse de Date și Metodologie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/ Kaggle + NASA POWER API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50292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Datelor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corelație, distribuție, scatter plots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50292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063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ML Evaluate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algoritmi, RandomizedSearchCV, TimeSeriesSplit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50292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și Model Câștigător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389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R² = 0.79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10972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37760" y="1097280"/>
            <a:ext cx="50292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1097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Importanța Variabilelor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508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ce contează cel mai mult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20574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37760" y="2057400"/>
            <a:ext cx="50292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2057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2103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Predicție Țări Europene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24688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Europa + comparație cu valorile reale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30175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37760" y="3017520"/>
            <a:ext cx="502920" cy="7772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32120" y="3063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și Îmbunătățiri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32120" y="34290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Limite, direcții viitoare, aplicații practice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Surse de Date și Metodologie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6858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Producție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/ Kaggle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Acoperire globală: 1961–2023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 pe specia Apples (Malus domestica)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Variabile: Area harvested, Production, Yield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Transformare: format pe țară și an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 valori lipsă prin interpolare liniară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051560"/>
            <a:ext cx="4114800" cy="68580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Climatice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Extragere zilnică per coordonate geografice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Agregate anual și pe sezoane (Primăvară, Vară)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variabile climatice per țară și an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Acoperire: toate țările din dataset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Perioada: 2005–2019 (15 ani)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A4692-3069-BD6A-2297-2687D700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D2AA20-F6D0-C717-57DB-127EECCD1CF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CE5C1F-DD5C-0BF4-31E0-48DE2E0380F3}"/>
              </a:ext>
            </a:extLst>
          </p:cNvPr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Matricea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corela</a:t>
            </a:r>
            <a:r>
              <a:rPr lang="ro-RO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ție</a:t>
            </a:r>
            <a:endParaRPr lang="en-US" sz="2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4E7846-8454-6A2B-3067-3A6B47790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92" y="1082131"/>
            <a:ext cx="6624215" cy="39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90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Datelor — Matrice de Corelație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05840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170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harvested ↔ Production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4904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Puternică +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1005840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039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Zile Îngheț ↔ Îngheț Primăvară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3591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Puternică 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100584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−0.89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Medie An ↔ Zile Îngheț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32278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Puternică 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100584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70332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−0.85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7764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Medie An ↔ Îngheț Primăvară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40965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Puternică 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1097280"/>
            <a:ext cx="2834640" cy="36118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Concluzie cheie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160020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 corelează liniar cu niciunul dintre factorii climatici (|r| &lt; 0.15).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Aceasta indică relații neliniare și interacțiuni complexe, care justifică utilizarea modelelor de tip ansamblu.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Relația dintre Variabile și Randament (Yield)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Evoluția Randamentului în Timp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17720" y="868680"/>
            <a:ext cx="41148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63440" y="8961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Zile Îngheț vs. Randament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3950208"/>
            <a:ext cx="8458200" cy="102412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11480" y="40050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Randamentul mediu crește ușor în timp (~+1.3%/an), dar variabilitatea este extrem de mare. Zilele de îngheț corelează negativ slab cu Yield-ul (r &lt; 0.15) — relație neliniară, cu mulți factori interacționanți.</a:t>
            </a:r>
            <a:endParaRPr lang="en-US" sz="1200" dirty="0"/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A9A6B52A-D260-BCE4-4FF8-7ABFD794A2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15044" y="2419350"/>
            <a:ext cx="3109356" cy="310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17DC32E-8BFB-B55F-1A04-1C4D3C678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7498"/>
            <a:ext cx="3615476" cy="21568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EFFEB0C-1396-8DC8-5C96-88B8EE97E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644" y="1377498"/>
            <a:ext cx="3749631" cy="2236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Machine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6400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828800"/>
            <a:ext cx="1005840" cy="1005840"/>
          </a:xfrm>
          <a:prstGeom prst="ellipse">
            <a:avLst/>
          </a:prstGeom>
          <a:solidFill>
            <a:srgbClr val="2C6E49">
              <a:alpha val="15000"/>
            </a:srgbClr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primii ani → antrenare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ultimii ani → test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Respectă ordinea temporală, simulând predicția pe ani viitori. Previne data leakage.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651760" cy="640080"/>
          </a:xfrm>
          <a:prstGeom prst="rect">
            <a:avLst/>
          </a:prstGeom>
          <a:solidFill>
            <a:srgbClr val="4C956C"/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0789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69080" y="1828800"/>
            <a:ext cx="1005840" cy="1005840"/>
          </a:xfrm>
          <a:prstGeom prst="ellipse">
            <a:avLst/>
          </a:prstGeom>
          <a:solidFill>
            <a:srgbClr val="4C956C">
              <a:alpha val="15000"/>
            </a:srgbClr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CV×5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9718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cu 5 fold-uri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fold de validare este cronologic după cel de antrenare. Estimează stabilitatea modelului.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265176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0789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1828800"/>
            <a:ext cx="1005840" cy="100584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944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9718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n_iter = 100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Testează 100 de combinații aleatorii de hiperparametri — mai eficient decât GridSearch exhaustiv.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D8F3DC"/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Variabila țintă: Yield (hg/ha)  •  Featuri: 11 variabile climatice + encoding țară  •  Excluse: Area harvested, Production, Year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Comparative — 8 Modele Testate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60120"/>
            <a:ext cx="2743200" cy="384048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Model Câștigător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8076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172200" y="2148840"/>
            <a:ext cx="2560320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0" y="21854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06640" y="21854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72200" y="2670048"/>
            <a:ext cx="2560320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17920" y="27066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06640" y="270662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0.8905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3191256"/>
            <a:ext cx="2560320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0" y="3227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06640" y="322783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43,178 hg/ha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712464"/>
            <a:ext cx="2560320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1792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3749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72200" y="4233672"/>
            <a:ext cx="2560320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217920" y="42702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Varianță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06640" y="42702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Importanța Variabilelor — Extra Trees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68896" y="1088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32320" y="1051560"/>
            <a:ext cx="1691640" cy="38862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78040" y="1143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78040" y="1508760"/>
            <a:ext cx="1600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Țara (43%) domină predicția — reflectă diferențele structurale: soiuri, sol, tehnologie.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și înghetul sunt cei mai relevanți factori climatici.</a:t>
            </a:r>
            <a:endParaRPr lang="en-US" sz="9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235A860-1FE5-B058-703E-A5F18D6B4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04" y="1216152"/>
            <a:ext cx="6010992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Predicție Randament — Top 10 Țări Europene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0" y="960120"/>
            <a:ext cx="2423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0" y="960120"/>
            <a:ext cx="2423160" cy="4572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46520" y="9875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Predicție vs Realitate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4652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Elveția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6520" y="1755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06640" y="1755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58.1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4652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Olanda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46520" y="22860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406640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40.93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46520" y="25694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Franța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46520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34.59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06640" y="28163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38.84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46520" y="3099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46520" y="3346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406640" y="33467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40.49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46520" y="3630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România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46520" y="38770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11.47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406640" y="3877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9.06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44652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Polonia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46520" y="4407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14.19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406640" y="4407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15.45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92C5C54-3D8F-2130-168A-FAF6BF359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8" y="1452407"/>
            <a:ext cx="5973505" cy="29641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și Direcții Viitoare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Modelele liniare — insuficiente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0.22. Relațiile clima-randament nu sunt liniare. Regresia clasică nu poate surprinde interacțiunile complexe dintre variabile.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48640" cy="10058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— cel mai bun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 = 0.79, MAE = 43.178 hg/ha. Randomizarea pragurilor de split reduce overfitting-ul și îmbunătățește generalizarea.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54864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4290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Țara — factorul dominant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Importanță 43%. Reflectă diferențele structurale dintre țări: soiuri cultivate, tehnologie, tipul de sol.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051560"/>
            <a:ext cx="2606040" cy="356616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1143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Îmbunătățiri posibile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554480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Adăugare date agronomice (soiuri, sol, irigații)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multe date istorice (&gt;1747 rânduri)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— </a:t>
            </a:r>
            <a:r>
              <a:rPr lang="en-US" sz="1000" dirty="0" err="1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optimizare</a:t>
            </a: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 err="1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CatBoost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separate per regiune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2C6E49">
              <a:alpha val="25000"/>
            </a:srgbClr>
          </a:solidFill>
          <a:ln w="12700">
            <a:solidFill>
              <a:srgbClr val="2C6E4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4C956C">
              <a:alpha val="20000"/>
            </a:srgbClr>
          </a:solidFill>
          <a:ln w="12700">
            <a:solidFill>
              <a:srgbClr val="4C956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Mulțumesc!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743200" y="2468880"/>
            <a:ext cx="36576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Regressor — R² = 0.79 — MAE = 43.178 hg/ha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Adrian Corneliu  •  Mai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97380" y="4114800"/>
            <a:ext cx="1691640" cy="822960"/>
          </a:xfrm>
          <a:prstGeom prst="rect">
            <a:avLst/>
          </a:prstGeom>
          <a:solidFill>
            <a:srgbClr val="2C6E49">
              <a:alpha val="50000"/>
            </a:srgbClr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97380" y="41330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97380" y="4526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17620" y="4114800"/>
            <a:ext cx="1691640" cy="822960"/>
          </a:xfrm>
          <a:prstGeom prst="rect">
            <a:avLst/>
          </a:prstGeom>
          <a:solidFill>
            <a:srgbClr val="2C6E49">
              <a:alpha val="50000"/>
            </a:srgbClr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17620" y="41330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17620" y="4526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(hg/ha)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48364" y="4114800"/>
            <a:ext cx="1691640" cy="822960"/>
          </a:xfrm>
          <a:prstGeom prst="rect">
            <a:avLst/>
          </a:prstGeom>
          <a:solidFill>
            <a:srgbClr val="2C6E49">
              <a:alpha val="50000"/>
            </a:srgbClr>
          </a:solidFill>
          <a:ln w="12700">
            <a:solidFill>
              <a:srgbClr val="4C95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48364" y="41330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48364" y="4526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din 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711</Words>
  <Application>Microsoft Office PowerPoint</Application>
  <PresentationFormat>On-screen Show (16:9)</PresentationFormat>
  <Paragraphs>165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Predicția Randamentului Producției de Mere</dc:title>
  <dc:subject>PptxGenJS Presentation</dc:subject>
  <dc:creator>Pop Adrian Corneliu</dc:creator>
  <cp:lastModifiedBy>Adi Pop</cp:lastModifiedBy>
  <cp:revision>4</cp:revision>
  <dcterms:created xsi:type="dcterms:W3CDTF">2026-05-27T09:23:05Z</dcterms:created>
  <dcterms:modified xsi:type="dcterms:W3CDTF">2026-05-28T08:26:08Z</dcterms:modified>
</cp:coreProperties>
</file>